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embeddedFontLst>
    <p:embeddedFont>
      <p:font typeface="Cambria" panose="02040503050406030204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6dHowHitG7qO6JED1m0Gg4QQa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1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70" y="-1810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4" Type="http://schemas.openxmlformats.org/officeDocument/2006/relationships/font" Target="fonts/font1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ackground Poster">
  <p:cSld name="Orange Background Po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3886200"/>
            <a:ext cx="43891200" cy="29032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111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endParaRPr sz="8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3"/>
          <p:cNvCxnSpPr/>
          <p:nvPr/>
        </p:nvCxnSpPr>
        <p:spPr>
          <a:xfrm>
            <a:off x="0" y="4038600"/>
            <a:ext cx="43891200" cy="0"/>
          </a:xfrm>
          <a:prstGeom prst="straightConnector1">
            <a:avLst/>
          </a:prstGeom>
          <a:noFill/>
          <a:ln w="3810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 Poster">
  <p:cSld name="Blue Background Po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0" y="3886200"/>
            <a:ext cx="43891200" cy="2903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111D3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endParaRPr sz="8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4"/>
          <p:cNvCxnSpPr/>
          <p:nvPr/>
        </p:nvCxnSpPr>
        <p:spPr>
          <a:xfrm>
            <a:off x="0" y="4038600"/>
            <a:ext cx="43891200" cy="0"/>
          </a:xfrm>
          <a:prstGeom prst="straightConnector1">
            <a:avLst/>
          </a:prstGeom>
          <a:noFill/>
          <a:ln w="381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rgbClr val="888A8D"/>
              </a:buClr>
              <a:buSzPts val="9600"/>
              <a:buFont typeface="Arial"/>
              <a:buNone/>
              <a:defRPr sz="96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rgbClr val="888A8D"/>
              </a:buClr>
              <a:buSzPts val="8600"/>
              <a:buFont typeface="Arial"/>
              <a:buNone/>
              <a:defRPr sz="86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rgbClr val="888A8D"/>
              </a:buClr>
              <a:buSzPts val="7700"/>
              <a:buFont typeface="Arial"/>
              <a:buNone/>
              <a:defRPr sz="7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88A8D"/>
              </a:buClr>
              <a:buSzPts val="6700"/>
              <a:buFont typeface="Arial"/>
              <a:buNone/>
              <a:defRPr sz="6700" b="0" i="0" u="none" strike="noStrike" cap="none">
                <a:solidFill>
                  <a:srgbClr val="888A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10530842" y="36865560"/>
            <a:ext cx="94442280" cy="10427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079500" algn="l" rtl="0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sz="1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–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»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105704642" y="36865560"/>
            <a:ext cx="94442280" cy="10427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079500" algn="l" rtl="0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sz="1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–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»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None/>
              <a:defRPr sz="1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None/>
              <a:defRPr sz="8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2194560" y="10439400"/>
            <a:ext cx="19392902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–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»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3"/>
          </p:nvPr>
        </p:nvSpPr>
        <p:spPr>
          <a:xfrm>
            <a:off x="22296122" y="7368542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None/>
              <a:defRPr sz="1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None/>
              <a:defRPr sz="8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 sz="7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4"/>
          </p:nvPr>
        </p:nvSpPr>
        <p:spPr>
          <a:xfrm>
            <a:off x="22296122" y="10439400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774700" algn="l" rtl="0">
              <a:lnSpc>
                <a:spcPct val="100000"/>
              </a:lnSpc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Arial"/>
              <a:buChar char="•"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–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»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717550" algn="l" rtl="0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sz="7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17160240" y="1310643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206500" algn="l" rtl="0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sz="1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079500" algn="l" rtl="0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sz="1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2194563" y="6888483"/>
            <a:ext cx="1443990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>
            <a:spLocks noGrp="1"/>
          </p:cNvSpPr>
          <p:nvPr>
            <p:ph type="pic" idx="2"/>
          </p:nvPr>
        </p:nvSpPr>
        <p:spPr>
          <a:xfrm>
            <a:off x="8602982" y="2941320"/>
            <a:ext cx="2633472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8602982" y="25763222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 rot="5400000">
            <a:off x="11083131" y="-1208881"/>
            <a:ext cx="21724938" cy="395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206500" algn="l" rtl="0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sz="1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079500" algn="l" rtl="0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sz="1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 rot="5400000">
            <a:off x="109034583" y="50032922"/>
            <a:ext cx="134820662" cy="4740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 rot="5400000">
            <a:off x="13860783" y="2994660"/>
            <a:ext cx="134820662" cy="141480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206500" algn="l" rtl="0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Font typeface="Arial"/>
              <a:buChar char="•"/>
              <a:defRPr sz="1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079500" algn="l" rtl="0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–"/>
              <a:defRPr sz="1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95885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•"/>
              <a:defRPr sz="1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–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»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38200" algn="l" rtl="0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dt" idx="10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ftr" idx="11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  <a:defRPr sz="8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/>
        </p:nvSpPr>
        <p:spPr>
          <a:xfrm>
            <a:off x="271192" y="2638034"/>
            <a:ext cx="43374522" cy="193895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600"/>
            </a:pPr>
            <a:r>
              <a:rPr lang="en-US" sz="60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Title of the project – </a:t>
            </a:r>
            <a:r>
              <a:rPr lang="en-IN" sz="6000" b="1" dirty="0"/>
              <a:t>Development and Motion Analysis of an Elbow Exoskeleton for Assisted Movement</a:t>
            </a:r>
            <a:endParaRPr lang="en-IN" sz="6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endParaRPr sz="6000" b="1" i="0" u="none" strike="noStrike" cap="none" dirty="0">
              <a:solidFill>
                <a:srgbClr val="C4161C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31922242" y="25783825"/>
            <a:ext cx="11686777" cy="557877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Arial Black"/>
              <a:sym typeface="Arial Black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298776" y="15500958"/>
            <a:ext cx="10629600" cy="524075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lvl="0">
              <a:buSzPts val="4000"/>
            </a:pPr>
            <a:endParaRPr lang="en-US" sz="4400" dirty="0"/>
          </a:p>
          <a:p>
            <a:pPr lvl="0">
              <a:buSzPts val="4000"/>
            </a:pPr>
            <a:r>
              <a:rPr lang="en-US" sz="4400" dirty="0"/>
              <a:t>Developing a </a:t>
            </a:r>
            <a:r>
              <a:rPr lang="en-US" sz="4400" b="1" dirty="0"/>
              <a:t>cable-driven elbow exoskeleton</a:t>
            </a:r>
            <a:r>
              <a:rPr lang="en-US" sz="4400" dirty="0"/>
              <a:t> to assist with rehabilitation and lifting. It utilizes </a:t>
            </a:r>
            <a:r>
              <a:rPr lang="en-US" sz="4400" b="1" dirty="0"/>
              <a:t>real-time sensor feedback</a:t>
            </a:r>
            <a:r>
              <a:rPr lang="en-US" sz="4400" dirty="0"/>
              <a:t> and </a:t>
            </a:r>
            <a:r>
              <a:rPr lang="en-US" sz="4400" b="1" dirty="0"/>
              <a:t>compliant actuation</a:t>
            </a:r>
            <a:r>
              <a:rPr lang="en-US" sz="4400" dirty="0"/>
              <a:t> to ensure safe, synchronized physical support.</a:t>
            </a:r>
            <a:r>
              <a:rPr lang="en-US" sz="4400" b="1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                   </a:t>
            </a:r>
            <a:r>
              <a:rPr lang="en-US" sz="4400" b="1" i="0" strike="noStrike" cap="none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endParaRPr sz="4400" b="1" i="0" strike="noStrike" cap="none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 </a:t>
            </a:r>
            <a:endParaRPr sz="4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271192" y="4485932"/>
            <a:ext cx="10629600" cy="1067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 </a:t>
            </a:r>
            <a:endParaRPr lang="en-US" sz="40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US" sz="40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lvl="0">
              <a:buSzPts val="4000"/>
            </a:pPr>
            <a:r>
              <a:rPr lang="en-US" sz="4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</a:t>
            </a:r>
            <a:r>
              <a:rPr lang="en-US" sz="4400" b="1" dirty="0"/>
              <a:t>Wearable robotic systems designed  to support, aid, or rehabilitate human joint movement</a:t>
            </a:r>
          </a:p>
          <a:p>
            <a:pPr lvl="0">
              <a:buSzPts val="4000"/>
            </a:pPr>
            <a:endParaRPr lang="en-US" sz="40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SzPts val="4000"/>
            </a:pPr>
            <a:r>
              <a:rPr lang="en-US" sz="4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</a:t>
            </a:r>
            <a:r>
              <a:rPr lang="en-US" sz="4400" b="1" dirty="0"/>
              <a:t>To create a lightweight, task-adaptive solution that reduces muscular activity while maintaining user safety and comfort </a:t>
            </a:r>
          </a:p>
          <a:p>
            <a:pPr lvl="0">
              <a:buSzPts val="4000"/>
            </a:pPr>
            <a:endParaRPr lang="en-US" sz="40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SzPts val="4000"/>
            </a:pPr>
            <a:r>
              <a:rPr lang="en-US" sz="4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</a:t>
            </a:r>
            <a:r>
              <a:rPr lang="en-US" sz="4400" b="1" dirty="0"/>
              <a:t>Relevance: The elbow is vital for daily tasks but vulnerable to stress, musculoskeletal conditions, and fatigue </a:t>
            </a:r>
            <a:r>
              <a:rPr lang="en-US" sz="4000" dirty="0"/>
              <a:t>.</a:t>
            </a:r>
            <a:endParaRPr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11255771" y="4485932"/>
            <a:ext cx="20339100" cy="1625577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3810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      </a:t>
            </a:r>
            <a:endParaRPr sz="40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31922242" y="4485932"/>
            <a:ext cx="11686778" cy="1288766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05275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                         </a:t>
            </a:r>
            <a:endParaRPr sz="4000" b="1" i="0" strike="noStrike" cap="none" dirty="0">
              <a:solidFill>
                <a:srgbClr val="052754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0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0" lvl="0" indent="-571500">
              <a:buSzPts val="4000"/>
              <a:buFont typeface="Arial" panose="020B0604020202020204" pitchFamily="34" charset="0"/>
              <a:buChar char="•"/>
            </a:pPr>
            <a:r>
              <a:rPr lang="en-US" sz="4400" b="1" dirty="0"/>
              <a:t>Developed a functional prototype featuring 3D-printed ABS cuffs with a hinged ergonomic mechanism for easy donning/doffing .</a:t>
            </a:r>
          </a:p>
          <a:p>
            <a:pPr lvl="0">
              <a:buSzPts val="4000"/>
            </a:pPr>
            <a:endParaRPr lang="en-US" sz="4400" b="1" dirty="0"/>
          </a:p>
          <a:p>
            <a:pPr marL="571500" lvl="0" indent="-571500">
              <a:buSzPts val="4000"/>
              <a:buFont typeface="Arial" panose="020B0604020202020204" pitchFamily="34" charset="0"/>
              <a:buChar char="•"/>
            </a:pPr>
            <a:r>
              <a:rPr lang="en-US" sz="4400" b="1" dirty="0"/>
              <a:t>Centralized backpack unit housing high-torque motors, minimizing distal limb inertia for the user.</a:t>
            </a:r>
          </a:p>
          <a:p>
            <a:pPr lvl="0">
              <a:buSzPts val="4000"/>
            </a:pPr>
            <a:endParaRPr lang="en-US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0" lvl="0" indent="-571500">
              <a:buSzPts val="4000"/>
              <a:buFont typeface="Arial" panose="020B0604020202020204" pitchFamily="34" charset="0"/>
              <a:buChar char="•"/>
            </a:pPr>
            <a:r>
              <a:rPr lang="en-US" sz="4400" b="1" dirty="0"/>
              <a:t>Successfully achieved an assistive torque of 7.21 Nm via a cable transmission mechanism.</a:t>
            </a:r>
            <a:endParaRPr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31871014" y="17721995"/>
            <a:ext cx="11774700" cy="7738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                            </a:t>
            </a:r>
            <a:r>
              <a:rPr lang="en-US" sz="4000" b="1" i="0" strike="noStrike" cap="none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endParaRPr sz="1400" b="0" i="0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lvl="0">
              <a:buSzPts val="4000"/>
            </a:pPr>
            <a:endParaRPr lang="en-US" sz="4000" dirty="0"/>
          </a:p>
          <a:p>
            <a:pPr lvl="0">
              <a:buSzPts val="4000"/>
            </a:pPr>
            <a:r>
              <a:rPr lang="en-US" sz="4400" b="1" dirty="0"/>
              <a:t>The cable-driven architecture successfully balances power, user comfort, and ergonomic safety.</a:t>
            </a:r>
          </a:p>
          <a:p>
            <a:pPr lvl="0">
              <a:buSzPts val="4000"/>
            </a:pPr>
            <a:endParaRPr lang="en-US" sz="40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lvl="0">
              <a:buSzPts val="4000"/>
            </a:pPr>
            <a:r>
              <a:rPr lang="en-US" sz="4400" b="1" dirty="0"/>
              <a:t>Proved that functional assistance is achievable using inexpensive, off-the-shelf components and 3D printing </a:t>
            </a:r>
            <a:endParaRPr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265382" y="31362604"/>
            <a:ext cx="24240900" cy="1416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en-US" sz="8600" b="1" i="0" u="none" strike="noStrike" cap="none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Robotics and Automation Department</a:t>
            </a:r>
            <a:endParaRPr sz="4500" b="1" i="0" u="none" strike="noStrike" cap="none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Arial Black"/>
              <a:sym typeface="Arial Black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388" y="91737"/>
            <a:ext cx="30776976" cy="17406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7" name="Google Shape;87;p1"/>
          <p:cNvSpPr/>
          <p:nvPr/>
        </p:nvSpPr>
        <p:spPr>
          <a:xfrm>
            <a:off x="2752888" y="4672100"/>
            <a:ext cx="6333860" cy="935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INTRODUCTION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2752888" y="15619691"/>
            <a:ext cx="6333860" cy="935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PROBLEM STATEMENT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sym typeface="Cambria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9209552" y="4672100"/>
            <a:ext cx="5497802" cy="935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METHODOLOG</a:t>
            </a: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Y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2661135" y="5028246"/>
            <a:ext cx="2934275" cy="1029904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RESULTS :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2206625" y="17951550"/>
            <a:ext cx="3915900" cy="935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CONCLUSIONS: :</a:t>
            </a:r>
            <a:endParaRPr sz="41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2126531" y="26004334"/>
            <a:ext cx="9442820" cy="1017237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Name of Students and Guide/s</a:t>
            </a:r>
            <a:endParaRPr sz="41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6B8E31-8433-4027-BFFE-2F8A37E43385}"/>
              </a:ext>
            </a:extLst>
          </p:cNvPr>
          <p:cNvSpPr/>
          <p:nvPr/>
        </p:nvSpPr>
        <p:spPr>
          <a:xfrm>
            <a:off x="14807267" y="1745990"/>
            <a:ext cx="142766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ts val="4500"/>
            </a:pPr>
            <a:r>
              <a:rPr lang="en-US" sz="6000" b="1" dirty="0">
                <a:solidFill>
                  <a:srgbClr val="C4161C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 Black"/>
              </a:rPr>
              <a:t>Project Based Learning – Batch 2023-27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004E29-7BAE-45AE-A0EC-EAFEA32EF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06637"/>
              </p:ext>
            </p:extLst>
          </p:nvPr>
        </p:nvGraphicFramePr>
        <p:xfrm>
          <a:off x="32206625" y="27113178"/>
          <a:ext cx="11322300" cy="3925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2160">
                  <a:extLst>
                    <a:ext uri="{9D8B030D-6E8A-4147-A177-3AD203B41FA5}">
                      <a16:colId xmlns:a16="http://schemas.microsoft.com/office/drawing/2014/main" val="3018469219"/>
                    </a:ext>
                  </a:extLst>
                </a:gridCol>
                <a:gridCol w="5040140">
                  <a:extLst>
                    <a:ext uri="{9D8B030D-6E8A-4147-A177-3AD203B41FA5}">
                      <a16:colId xmlns:a16="http://schemas.microsoft.com/office/drawing/2014/main" val="94470449"/>
                    </a:ext>
                  </a:extLst>
                </a:gridCol>
              </a:tblGrid>
              <a:tr h="3925796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IN" sz="4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 of the Students</a:t>
                      </a:r>
                      <a:br>
                        <a:rPr lang="en-IN" sz="4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IN" sz="4200" b="0" i="0" u="none" strike="noStrike" cap="none" baseline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</a:endParaRP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IN" sz="4000" b="0" i="0" u="none" strike="noStrike" cap="none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Lav           (23070127033)</a:t>
                      </a:r>
                    </a:p>
                    <a:p>
                      <a:pPr marL="514350" marR="0" lvl="0" indent="-5143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4000" b="0" i="0" u="none" strike="noStrike" cap="none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Rohit        (23070127046)</a:t>
                      </a:r>
                    </a:p>
                    <a:p>
                      <a:pPr marL="514350" marR="0" lvl="0" indent="-5143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4000" b="0" i="0" u="none" strike="noStrike" cap="none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Uriel         (23070127047)</a:t>
                      </a:r>
                    </a:p>
                    <a:p>
                      <a:pPr marL="514350" marR="0" lvl="0" indent="-5143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4000" b="0" i="0" u="none" strike="noStrike" cap="none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Jafar         (23070127074)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114300"/>
                      <a:r>
                        <a:rPr lang="en-IN" sz="4200" b="1" i="0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Name of the Guide</a:t>
                      </a:r>
                      <a:br>
                        <a:rPr lang="en-IN" sz="4200" b="1" i="0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</a:br>
                      <a:br>
                        <a:rPr lang="en-IN" sz="4200" b="1" i="0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</a:br>
                      <a:r>
                        <a:rPr lang="en-IN" sz="4400" b="1" i="0" u="none" strike="noStrike" cap="none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sym typeface="Arial"/>
                        </a:rPr>
                        <a:t>Dr. </a:t>
                      </a:r>
                      <a:r>
                        <a:rPr lang="en-IN" sz="4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Hemanth Kumar C </a:t>
                      </a:r>
                      <a:endParaRPr lang="en-IN" sz="4400" b="1" i="0" u="none" strike="noStrike" cap="none" baseline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037392"/>
                  </a:ext>
                </a:extLst>
              </a:tr>
            </a:tbl>
          </a:graphicData>
        </a:graphic>
      </p:graphicFrame>
      <p:sp>
        <p:nvSpPr>
          <p:cNvPr id="22" name="Google Shape;79;p1">
            <a:extLst>
              <a:ext uri="{FF2B5EF4-FFF2-40B4-BE49-F238E27FC236}">
                <a16:creationId xmlns:a16="http://schemas.microsoft.com/office/drawing/2014/main" id="{D30DF7B9-E407-4FE3-BB2F-2E83A5E20894}"/>
              </a:ext>
            </a:extLst>
          </p:cNvPr>
          <p:cNvSpPr/>
          <p:nvPr/>
        </p:nvSpPr>
        <p:spPr>
          <a:xfrm>
            <a:off x="298776" y="21123245"/>
            <a:ext cx="10629600" cy="1044961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Char char="•"/>
            </a:pPr>
            <a:endParaRPr lang="en-IN" sz="4400" b="1" u="sng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n-IN" sz="4400" b="1" dirty="0"/>
              <a:t>To develop a functional exoskeleton prototype capable of producing palmar flexion and   dorsiflexion movements of the arm.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endParaRPr lang="en-IN" sz="4400" b="1" dirty="0"/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n-IN" sz="4400" b="1" dirty="0"/>
              <a:t>To measure and observe the motion response of the exoskeleton mechanism using IMU-based sensors.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endParaRPr lang="en-IN" sz="4400" b="1" dirty="0"/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n-IN" sz="4400" b="1" dirty="0"/>
              <a:t>To evaluate the stability and performance of the exoskeleton during repetitive motion cycles.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400" b="1" u="sng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400" b="1" dirty="0">
                <a:solidFill>
                  <a:srgbClr val="131F33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                    </a:t>
            </a:r>
            <a:endParaRPr sz="4400" b="1" i="0" strike="noStrike" cap="none" dirty="0">
              <a:solidFill>
                <a:srgbClr val="131F33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 </a:t>
            </a:r>
            <a:endParaRPr sz="4400" b="1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7CBCA0D2-CB85-423D-B74C-479E7EE300EF}"/>
              </a:ext>
            </a:extLst>
          </p:cNvPr>
          <p:cNvSpPr/>
          <p:nvPr/>
        </p:nvSpPr>
        <p:spPr>
          <a:xfrm>
            <a:off x="2752888" y="21123245"/>
            <a:ext cx="6333860" cy="9357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OBJECTIVES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sym typeface="Cambria"/>
            </a:endParaRPr>
          </a:p>
        </p:txBody>
      </p:sp>
      <p:sp>
        <p:nvSpPr>
          <p:cNvPr id="8" name="Google Shape;82;p1">
            <a:extLst>
              <a:ext uri="{FF2B5EF4-FFF2-40B4-BE49-F238E27FC236}">
                <a16:creationId xmlns:a16="http://schemas.microsoft.com/office/drawing/2014/main" id="{1F21FBB4-D2E4-4F38-80CF-F06AFB5114D6}"/>
              </a:ext>
            </a:extLst>
          </p:cNvPr>
          <p:cNvSpPr/>
          <p:nvPr/>
        </p:nvSpPr>
        <p:spPr>
          <a:xfrm>
            <a:off x="11255771" y="20989164"/>
            <a:ext cx="20339100" cy="1044961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360000" tIns="360000" rIns="360000" bIns="360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lang="en-IN"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4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B3178A7E-859C-1148-D01A-0F6FB29C6EDC}"/>
              </a:ext>
            </a:extLst>
          </p:cNvPr>
          <p:cNvSpPr/>
          <p:nvPr/>
        </p:nvSpPr>
        <p:spPr>
          <a:xfrm>
            <a:off x="11872992" y="21413476"/>
            <a:ext cx="2934275" cy="1029904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RESULTS :</a:t>
            </a:r>
            <a:endParaRPr sz="4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E050B7-7386-561A-36EE-5FBA1C543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0860" y="5762936"/>
            <a:ext cx="19699211" cy="140509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1AC0C4-6FD2-ECC7-24D9-3017A751E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4571" y="11637454"/>
            <a:ext cx="13439989" cy="78542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D1584F-3793-9F91-BA6D-598D8004F2D7}"/>
              </a:ext>
            </a:extLst>
          </p:cNvPr>
          <p:cNvSpPr txBox="1"/>
          <p:nvPr/>
        </p:nvSpPr>
        <p:spPr>
          <a:xfrm>
            <a:off x="12309342" y="19903725"/>
            <a:ext cx="18747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Fig 1. Methodology followed in this study</a:t>
            </a:r>
            <a:endParaRPr lang="en-IN" sz="4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15D2CD-15DC-6571-74F1-0D10FBB45E76}"/>
              </a:ext>
            </a:extLst>
          </p:cNvPr>
          <p:cNvSpPr/>
          <p:nvPr/>
        </p:nvSpPr>
        <p:spPr>
          <a:xfrm>
            <a:off x="11540860" y="22677120"/>
            <a:ext cx="19699211" cy="73456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856E02-9F67-C1C4-52B5-11F3C79929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4571" y="22767010"/>
            <a:ext cx="9811337" cy="71870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93CD92-911E-01E0-EFCA-230C7B5DF0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7321" y="22767010"/>
            <a:ext cx="9811337" cy="71870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192ED4-7F90-648B-AED3-B1D2A1954EB2}"/>
              </a:ext>
            </a:extLst>
          </p:cNvPr>
          <p:cNvSpPr txBox="1"/>
          <p:nvPr/>
        </p:nvSpPr>
        <p:spPr>
          <a:xfrm>
            <a:off x="11540860" y="30434821"/>
            <a:ext cx="19122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Fig2. IMU Sensor values for flexion and extension with and without filtering</a:t>
            </a:r>
            <a:endParaRPr lang="en-IN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131F33"/>
      </a:dk1>
      <a:lt1>
        <a:srgbClr val="FFFFFF"/>
      </a:lt1>
      <a:dk2>
        <a:srgbClr val="A40000"/>
      </a:dk2>
      <a:lt2>
        <a:srgbClr val="FAFAFA"/>
      </a:lt2>
      <a:accent1>
        <a:srgbClr val="131F33"/>
      </a:accent1>
      <a:accent2>
        <a:srgbClr val="A40000"/>
      </a:accent2>
      <a:accent3>
        <a:srgbClr val="555555"/>
      </a:accent3>
      <a:accent4>
        <a:srgbClr val="888888"/>
      </a:accent4>
      <a:accent5>
        <a:srgbClr val="3D64A7"/>
      </a:accent5>
      <a:accent6>
        <a:srgbClr val="A40000"/>
      </a:accent6>
      <a:hlink>
        <a:srgbClr val="666666"/>
      </a:hlink>
      <a:folHlink>
        <a:srgbClr val="AAAA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310</Words>
  <Application>Microsoft Office PowerPoint</Application>
  <PresentationFormat>Custom</PresentationFormat>
  <Paragraphs>362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Cambria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Utkarsh.Kumar Btech2023</cp:lastModifiedBy>
  <cp:revision>12</cp:revision>
  <dcterms:modified xsi:type="dcterms:W3CDTF">2026-04-24T06:03:14Z</dcterms:modified>
</cp:coreProperties>
</file>